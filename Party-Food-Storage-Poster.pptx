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124113" cy="1068863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52F7-9438-3828-7664-0A52BA752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0515" y="1749275"/>
            <a:ext cx="11343085" cy="372123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E45C7-9ABD-1215-56FD-0C628D6BE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0515" y="5614010"/>
            <a:ext cx="11343085" cy="25806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C92FE-3FEB-4B8E-B303-324B6FCA1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30ABD-3245-C4B4-E574-3929F0AE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96454-B02E-FCA9-E80E-528F7723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99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21BA-EAC6-BE67-C891-63B38F07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A9E1B-933D-E2CF-DE4B-37C68A21F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3F1FB-1E80-E947-EBFD-5C4057E1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2DA5-6E60-8442-CD2C-004247A8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F9914-A0C5-406F-914D-DA7CE3D1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65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86984-3E63-B748-D5D3-226242DB0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907" y="2664740"/>
            <a:ext cx="13044547" cy="444617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24EC2-C2F6-C4EC-C8BA-78BC22CD9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907" y="7152978"/>
            <a:ext cx="13044547" cy="23381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F7F56-3400-FFE6-F790-2F69F6CB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B415F-0DC7-70E5-2D56-25A5244F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9B5AC-BF63-9D8A-3350-FB751D0C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06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3E39-75AC-C2D5-2B70-860FD3862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0301A-6F64-8C48-8066-AAD33148F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783" y="2845355"/>
            <a:ext cx="6427748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29335-87CD-45D4-96E8-2AAACD6AC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6582" y="2845355"/>
            <a:ext cx="6427748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5427B-E826-724B-4599-38306BE2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35C54-1C95-7EBA-59E3-7EA9C224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4DA43-F3AF-B600-3B73-E96C9593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08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7199-7C36-31A3-45F4-1687152C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753" y="569073"/>
            <a:ext cx="13044547" cy="2065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5A66B-2A78-5A79-BF59-03BDA3F5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753" y="2620202"/>
            <a:ext cx="6398208" cy="12841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F63A2-E0FC-6C68-FE3C-EFA393781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753" y="3904322"/>
            <a:ext cx="6398208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4481A-83DF-956F-E1B9-2EC4ADFAC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6582" y="2620202"/>
            <a:ext cx="6429718" cy="12841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FEDEC7-F3DB-A4CE-D5A7-46E17D91A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6582" y="3904322"/>
            <a:ext cx="6429718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6A6BD-6ADA-9915-52EC-E6F57FEE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C950B-D719-E51F-8638-17A95B31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29C05-AB58-5D0C-1F9E-6E26F00B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6B24-48E3-7F9C-E2DB-F1DB2D69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EBC2D-1D34-F730-7F36-47DFAAF6D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95D6E-87A0-75E6-ECAC-658210E5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5EDDA-5D97-F9EC-549F-12A9B72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29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C494A-9486-61AE-B7A2-16B29EE3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75FDC-C806-7EDC-5DFE-386BA664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B851C-0DD9-28A0-C837-B5F0443A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7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97DA-B170-85E9-2AC2-4587C99E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753" y="712576"/>
            <a:ext cx="4877920" cy="24940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C772F-B336-5880-6FAB-0F00086B3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718" y="1538968"/>
            <a:ext cx="7656582" cy="759586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61D60-6BEC-A059-F22E-C7DB02235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753" y="3206592"/>
            <a:ext cx="4877920" cy="59406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1F693-580B-A610-E00D-FF5CC5B1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3E4D5-9984-F743-CBD6-5F371B2CC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E2272-3C5C-4C5C-34E9-A2299FE7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573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8764-3D98-DAD4-EE2E-8C97F24B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753" y="712576"/>
            <a:ext cx="4877920" cy="24940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5AD3E-B8EF-BA38-9893-047FB1DB224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429718" y="1538968"/>
            <a:ext cx="7656582" cy="75958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C6DE8-738E-73A2-78C0-91A0685E3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753" y="3206592"/>
            <a:ext cx="4877920" cy="59406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40D9C-2101-B4E7-FFA4-89AB3264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9B84A-E0B8-5A4B-3049-9798D232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31114-DA48-D361-3FC8-95BD87CF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013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EA77-32F9-8702-06F3-3E3FACBE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7E068-94F4-4ABE-F697-E2BCCFA11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B8F7-4D9C-8A3F-7CFC-4DBD862C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0780-4BB9-0413-4064-0EE67ADA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56433-0558-E742-E119-BD7CAA6B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85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A22C1B-C94E-6E5F-7EC4-41EE38E59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23194" y="569071"/>
            <a:ext cx="3261137" cy="90581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AEE3F-A62B-5686-34A4-2134C8E57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784" y="569071"/>
            <a:ext cx="9594359" cy="90581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013A1-FD4E-BDB6-CB53-14462BD46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0F960-0A09-AC05-0E3C-25752356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019FD-4694-2F60-72CB-2E844D92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22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65C518-7184-CFBE-AA93-FFA6B0DB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784" y="569073"/>
            <a:ext cx="13044547" cy="2065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3D3C5-2F1F-DA29-41B3-FDEC394E6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784" y="2845355"/>
            <a:ext cx="13044547" cy="678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65BEA-0EC4-3069-8CF9-8748B453F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784" y="9906786"/>
            <a:ext cx="340292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672BE-29E6-4264-A6DE-DB7A0ADE65F7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53D5-0527-B5E0-857E-259F1F023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9863" y="9906786"/>
            <a:ext cx="5104388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9E260-97AE-316C-6EE3-E0A3ED1A8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1406" y="9906786"/>
            <a:ext cx="340292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C1C0B-DA27-490D-B59A-91D6D42905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12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D066F-544A-B580-7C74-3BE9847956DB}"/>
              </a:ext>
            </a:extLst>
          </p:cNvPr>
          <p:cNvSpPr/>
          <p:nvPr/>
        </p:nvSpPr>
        <p:spPr>
          <a:xfrm>
            <a:off x="0" y="0"/>
            <a:ext cx="15124176" cy="1444752"/>
          </a:xfrm>
          <a:prstGeom prst="rect">
            <a:avLst/>
          </a:prstGeom>
          <a:solidFill>
            <a:srgbClr val="1230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89EA4-ACF6-8BA1-8707-CD821BF853EE}"/>
              </a:ext>
            </a:extLst>
          </p:cNvPr>
          <p:cNvSpPr/>
          <p:nvPr/>
        </p:nvSpPr>
        <p:spPr>
          <a:xfrm>
            <a:off x="0" y="0"/>
            <a:ext cx="164592" cy="10689336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C658F-29B1-B1C9-FA3E-4140CC1B4FF0}"/>
              </a:ext>
            </a:extLst>
          </p:cNvPr>
          <p:cNvSpPr txBox="1"/>
          <p:nvPr/>
        </p:nvSpPr>
        <p:spPr>
          <a:xfrm>
            <a:off x="475488" y="256032"/>
            <a:ext cx="10515600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" panose="020B0004020202020204" pitchFamily="34" charset="0"/>
              </a:rPr>
              <a:t>PARTY FOOD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6FD4C-7C74-4BB1-CB51-68F45590DE5C}"/>
              </a:ext>
            </a:extLst>
          </p:cNvPr>
          <p:cNvSpPr txBox="1"/>
          <p:nvPr/>
        </p:nvSpPr>
        <p:spPr>
          <a:xfrm>
            <a:off x="502920" y="932688"/>
            <a:ext cx="10698480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600">
                <a:solidFill>
                  <a:srgbClr val="D8E7EC"/>
                </a:solidFill>
                <a:latin typeface="Aptos" panose="020B0004020202020204" pitchFamily="34" charset="0"/>
              </a:rPr>
              <a:t>A bounded circular deque for tracking, adding and removing party food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261875-654D-5DFE-482E-E0ADCFBE6DFA}"/>
              </a:ext>
            </a:extLst>
          </p:cNvPr>
          <p:cNvSpPr/>
          <p:nvPr/>
        </p:nvSpPr>
        <p:spPr>
          <a:xfrm>
            <a:off x="11475720" y="438912"/>
            <a:ext cx="3154680" cy="438912"/>
          </a:xfrm>
          <a:prstGeom prst="round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3AD31-F279-FE57-BCA3-4AC9159E0755}"/>
              </a:ext>
            </a:extLst>
          </p:cNvPr>
          <p:cNvSpPr txBox="1"/>
          <p:nvPr/>
        </p:nvSpPr>
        <p:spPr>
          <a:xfrm>
            <a:off x="11503152" y="466344"/>
            <a:ext cx="3099816" cy="365760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ALGORITHMS AND CONSTRUCTS  |  JAVA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B1F491-47DB-27AF-F27B-21336B4075EC}"/>
              </a:ext>
            </a:extLst>
          </p:cNvPr>
          <p:cNvSpPr/>
          <p:nvPr/>
        </p:nvSpPr>
        <p:spPr>
          <a:xfrm>
            <a:off x="502920" y="1572768"/>
            <a:ext cx="14109191" cy="36576"/>
          </a:xfrm>
          <a:prstGeom prst="rect">
            <a:avLst/>
          </a:prstGeom>
          <a:solidFill>
            <a:srgbClr val="EBAE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0CDD0D-C1BA-ABB5-1C17-599834C56661}"/>
              </a:ext>
            </a:extLst>
          </p:cNvPr>
          <p:cNvSpPr/>
          <p:nvPr/>
        </p:nvSpPr>
        <p:spPr>
          <a:xfrm>
            <a:off x="438912" y="1755648"/>
            <a:ext cx="4608576" cy="2670048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09F907-23A2-C03E-7513-10857C734A4E}"/>
              </a:ext>
            </a:extLst>
          </p:cNvPr>
          <p:cNvSpPr txBox="1"/>
          <p:nvPr/>
        </p:nvSpPr>
        <p:spPr>
          <a:xfrm>
            <a:off x="621792" y="1883664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b="1">
                <a:solidFill>
                  <a:srgbClr val="087F8C"/>
                </a:solidFill>
                <a:latin typeface="Aptos" panose="020B0004020202020204" pitchFamily="34" charset="0"/>
              </a:rPr>
              <a:t>THE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35AB2F-CF01-6B17-BE82-2135A8CFA344}"/>
              </a:ext>
            </a:extLst>
          </p:cNvPr>
          <p:cNvSpPr txBox="1"/>
          <p:nvPr/>
        </p:nvSpPr>
        <p:spPr>
          <a:xfrm>
            <a:off x="621792" y="2350008"/>
            <a:ext cx="4242816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400">
                <a:solidFill>
                  <a:srgbClr val="19344C"/>
                </a:solidFill>
                <a:latin typeface="Aptos" panose="020B0004020202020204" pitchFamily="34" charset="0"/>
              </a:rPr>
              <a:t>The restaurant stores Burger, Pizza, Fries, Sandwich and Hotdog, recording name, weight, best-before date and placement time. Food loads at the front; removal can use that end or the opposite end. Capacity is eight. The console app supports add, remove, display, peek, search, LIFO/FIFO selection and exit.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99CC5E-E07B-77FC-3DA4-93D99E7A4C95}"/>
              </a:ext>
            </a:extLst>
          </p:cNvPr>
          <p:cNvSpPr/>
          <p:nvPr/>
        </p:nvSpPr>
        <p:spPr>
          <a:xfrm>
            <a:off x="438912" y="4645152"/>
            <a:ext cx="4608576" cy="5148072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362F7-C685-008B-78D4-F520AD086F96}"/>
              </a:ext>
            </a:extLst>
          </p:cNvPr>
          <p:cNvSpPr txBox="1"/>
          <p:nvPr/>
        </p:nvSpPr>
        <p:spPr>
          <a:xfrm>
            <a:off x="621792" y="4773168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b="1">
                <a:solidFill>
                  <a:srgbClr val="087F8C"/>
                </a:solidFill>
                <a:latin typeface="Aptos" panose="020B0004020202020204" pitchFamily="34" charset="0"/>
              </a:rPr>
              <a:t>WHY A CIRCULAR DEQUE?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89872-EDAA-8699-2D09-1DF10CA9C938}"/>
              </a:ext>
            </a:extLst>
          </p:cNvPr>
          <p:cNvSpPr txBox="1"/>
          <p:nvPr/>
        </p:nvSpPr>
        <p:spPr>
          <a:xfrm>
            <a:off x="621792" y="5239512"/>
            <a:ext cx="4242816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300">
                <a:solidFill>
                  <a:srgbClr val="19344C"/>
                </a:solidFill>
                <a:latin typeface="Aptos" panose="020B0004020202020204" pitchFamily="34" charset="0"/>
              </a:rPr>
              <a:t>A deque supports both policies: LIFO removes the newest item at the loading end; FIFO removes the oldest at the opposite end. A fixed circular array holds eight FoodItem references. Its index wraps at array boundaries, so additions and removals do not shift entries. Five food subclasses inherit details from FoodItem; a factory validates inputs and records placement time.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5765C1-F834-158D-AF3C-5D94A23F6892}"/>
              </a:ext>
            </a:extLst>
          </p:cNvPr>
          <p:cNvSpPr txBox="1"/>
          <p:nvPr/>
        </p:nvSpPr>
        <p:spPr>
          <a:xfrm>
            <a:off x="621792" y="7251192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200" b="1">
                <a:solidFill>
                  <a:srgbClr val="526879"/>
                </a:solidFill>
                <a:latin typeface="Aptos" panose="020B0004020202020204" pitchFamily="34" charset="0"/>
              </a:rPr>
              <a:t>EIGHT CIRCULAR ARRAY SLOTS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B7B069-6641-97E3-93B6-58D17A52CF1F}"/>
              </a:ext>
            </a:extLst>
          </p:cNvPr>
          <p:cNvSpPr/>
          <p:nvPr/>
        </p:nvSpPr>
        <p:spPr>
          <a:xfrm>
            <a:off x="649224" y="7708392"/>
            <a:ext cx="475488" cy="585216"/>
          </a:xfrm>
          <a:prstGeom prst="round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42B501-2791-CE25-ABE0-D592FE94DAA3}"/>
              </a:ext>
            </a:extLst>
          </p:cNvPr>
          <p:cNvSpPr txBox="1"/>
          <p:nvPr/>
        </p:nvSpPr>
        <p:spPr>
          <a:xfrm>
            <a:off x="649224" y="7708392"/>
            <a:ext cx="475488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48872C-881C-5BFE-2532-E5ADE37183EC}"/>
              </a:ext>
            </a:extLst>
          </p:cNvPr>
          <p:cNvSpPr/>
          <p:nvPr/>
        </p:nvSpPr>
        <p:spPr>
          <a:xfrm>
            <a:off x="1165860" y="7708392"/>
            <a:ext cx="475488" cy="585216"/>
          </a:xfrm>
          <a:prstGeom prst="round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E61734-5D39-F7E5-B671-79A7A14D0A87}"/>
              </a:ext>
            </a:extLst>
          </p:cNvPr>
          <p:cNvSpPr txBox="1"/>
          <p:nvPr/>
        </p:nvSpPr>
        <p:spPr>
          <a:xfrm>
            <a:off x="1165860" y="7708392"/>
            <a:ext cx="475488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541D4C2-6DC7-3988-4334-476095267A89}"/>
              </a:ext>
            </a:extLst>
          </p:cNvPr>
          <p:cNvSpPr/>
          <p:nvPr/>
        </p:nvSpPr>
        <p:spPr>
          <a:xfrm>
            <a:off x="1682496" y="7708392"/>
            <a:ext cx="475488" cy="585216"/>
          </a:xfrm>
          <a:prstGeom prst="round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E96C8D-A2D1-2F3F-2B8F-FB02321FBA7C}"/>
              </a:ext>
            </a:extLst>
          </p:cNvPr>
          <p:cNvSpPr txBox="1"/>
          <p:nvPr/>
        </p:nvSpPr>
        <p:spPr>
          <a:xfrm>
            <a:off x="1682496" y="7708392"/>
            <a:ext cx="475488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F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04F6CAC-7E88-EFB6-5B3F-C9949A09EB4D}"/>
              </a:ext>
            </a:extLst>
          </p:cNvPr>
          <p:cNvSpPr/>
          <p:nvPr/>
        </p:nvSpPr>
        <p:spPr>
          <a:xfrm>
            <a:off x="2199132" y="7708392"/>
            <a:ext cx="475488" cy="585216"/>
          </a:xfrm>
          <a:prstGeom prst="roundRect">
            <a:avLst/>
          </a:prstGeom>
          <a:solidFill>
            <a:srgbClr val="D8E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C4EC8CB-85B7-B5B9-3094-E0EF44353749}"/>
              </a:ext>
            </a:extLst>
          </p:cNvPr>
          <p:cNvSpPr/>
          <p:nvPr/>
        </p:nvSpPr>
        <p:spPr>
          <a:xfrm>
            <a:off x="2715768" y="7708392"/>
            <a:ext cx="475488" cy="585216"/>
          </a:xfrm>
          <a:prstGeom prst="roundRect">
            <a:avLst/>
          </a:prstGeom>
          <a:solidFill>
            <a:srgbClr val="D8E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A1868D-B653-E284-AB4E-282621D72A59}"/>
              </a:ext>
            </a:extLst>
          </p:cNvPr>
          <p:cNvSpPr/>
          <p:nvPr/>
        </p:nvSpPr>
        <p:spPr>
          <a:xfrm>
            <a:off x="3232404" y="7708392"/>
            <a:ext cx="475488" cy="585216"/>
          </a:xfrm>
          <a:prstGeom prst="roundRect">
            <a:avLst/>
          </a:prstGeom>
          <a:solidFill>
            <a:srgbClr val="D8E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68C0D6-F8FE-A778-945E-069533F5F40C}"/>
              </a:ext>
            </a:extLst>
          </p:cNvPr>
          <p:cNvSpPr/>
          <p:nvPr/>
        </p:nvSpPr>
        <p:spPr>
          <a:xfrm>
            <a:off x="3749040" y="7708392"/>
            <a:ext cx="475488" cy="585216"/>
          </a:xfrm>
          <a:prstGeom prst="roundRect">
            <a:avLst/>
          </a:prstGeom>
          <a:solidFill>
            <a:srgbClr val="D8E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0C9CB2F-C337-BE43-662B-8D995B384A4C}"/>
              </a:ext>
            </a:extLst>
          </p:cNvPr>
          <p:cNvSpPr/>
          <p:nvPr/>
        </p:nvSpPr>
        <p:spPr>
          <a:xfrm>
            <a:off x="4265676" y="7708392"/>
            <a:ext cx="475488" cy="585216"/>
          </a:xfrm>
          <a:prstGeom prst="roundRect">
            <a:avLst/>
          </a:prstGeom>
          <a:solidFill>
            <a:srgbClr val="D8E7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A8BE46-DDBB-BC67-854F-69B770C8EDBC}"/>
              </a:ext>
            </a:extLst>
          </p:cNvPr>
          <p:cNvSpPr txBox="1"/>
          <p:nvPr/>
        </p:nvSpPr>
        <p:spPr>
          <a:xfrm>
            <a:off x="621792" y="8412480"/>
            <a:ext cx="4242816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100">
                <a:solidFill>
                  <a:srgbClr val="526879"/>
                </a:solidFill>
                <a:latin typeface="Aptos" panose="020B0004020202020204" pitchFamily="34" charset="0"/>
              </a:rPr>
              <a:t>B Burger   P Pizza   F Fries   Empty slots shown pale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B6801F-4E6C-699D-6BC2-0063F8D22CB0}"/>
              </a:ext>
            </a:extLst>
          </p:cNvPr>
          <p:cNvSpPr txBox="1"/>
          <p:nvPr/>
        </p:nvSpPr>
        <p:spPr>
          <a:xfrm>
            <a:off x="621792" y="8933688"/>
            <a:ext cx="4242816" cy="365760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200" b="1">
                <a:solidFill>
                  <a:srgbClr val="087F8C"/>
                </a:solidFill>
                <a:latin typeface="Aptos" panose="020B0004020202020204" pitchFamily="34" charset="0"/>
              </a:rPr>
              <a:t>FRONT / LOADING: add; LIFO removes here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0C408C-D196-5721-EA76-6094B1AAFE1C}"/>
              </a:ext>
            </a:extLst>
          </p:cNvPr>
          <p:cNvSpPr txBox="1"/>
          <p:nvPr/>
        </p:nvSpPr>
        <p:spPr>
          <a:xfrm>
            <a:off x="621792" y="9354312"/>
            <a:ext cx="4242816" cy="365760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200" b="1">
                <a:solidFill>
                  <a:srgbClr val="12304A"/>
                </a:solidFill>
                <a:latin typeface="Aptos" panose="020B0004020202020204" pitchFamily="34" charset="0"/>
              </a:rPr>
              <a:t>OPPOSITE END: FIFO removes here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790CD7-88BF-1CD4-F82E-E5F761B9B696}"/>
              </a:ext>
            </a:extLst>
          </p:cNvPr>
          <p:cNvSpPr/>
          <p:nvPr/>
        </p:nvSpPr>
        <p:spPr>
          <a:xfrm>
            <a:off x="5257800" y="1755648"/>
            <a:ext cx="4608576" cy="4325112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B0AAA1-22B2-AAB1-4FD7-D82AA6D796C8}"/>
              </a:ext>
            </a:extLst>
          </p:cNvPr>
          <p:cNvSpPr txBox="1"/>
          <p:nvPr/>
        </p:nvSpPr>
        <p:spPr>
          <a:xfrm>
            <a:off x="5440680" y="1892808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b="1">
                <a:solidFill>
                  <a:srgbClr val="087F8C"/>
                </a:solidFill>
                <a:latin typeface="Aptos" panose="020B0004020202020204" pitchFamily="34" charset="0"/>
              </a:rPr>
              <a:t>OPERATIONS AND COMPLEXITY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B25EA8-04FF-2E87-30E3-CF3DEDFA916A}"/>
              </a:ext>
            </a:extLst>
          </p:cNvPr>
          <p:cNvSpPr txBox="1"/>
          <p:nvPr/>
        </p:nvSpPr>
        <p:spPr>
          <a:xfrm>
            <a:off x="5458968" y="2368296"/>
            <a:ext cx="1005840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000" b="1">
                <a:solidFill>
                  <a:srgbClr val="526879"/>
                </a:solidFill>
                <a:latin typeface="Aptos" panose="020B0004020202020204" pitchFamily="34" charset="0"/>
              </a:rPr>
              <a:t>OPERATION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82B4AE-2098-111D-0144-7F9959E75D83}"/>
              </a:ext>
            </a:extLst>
          </p:cNvPr>
          <p:cNvSpPr txBox="1"/>
          <p:nvPr/>
        </p:nvSpPr>
        <p:spPr>
          <a:xfrm>
            <a:off x="6629400" y="2368296"/>
            <a:ext cx="566928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000" b="1">
                <a:solidFill>
                  <a:srgbClr val="526879"/>
                </a:solidFill>
                <a:latin typeface="Aptos" panose="020B0004020202020204" pitchFamily="34" charset="0"/>
              </a:rPr>
              <a:t>TIME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758E87-2092-7597-E12F-2D1508112607}"/>
              </a:ext>
            </a:extLst>
          </p:cNvPr>
          <p:cNvSpPr txBox="1"/>
          <p:nvPr/>
        </p:nvSpPr>
        <p:spPr>
          <a:xfrm>
            <a:off x="7269480" y="2368296"/>
            <a:ext cx="2286000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000" b="1">
                <a:solidFill>
                  <a:srgbClr val="526879"/>
                </a:solidFill>
                <a:latin typeface="Aptos" panose="020B0004020202020204" pitchFamily="34" charset="0"/>
              </a:rPr>
              <a:t>WHAT THE CODE DOES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5809530-E1A7-737D-17D3-CDFABB73837C}"/>
              </a:ext>
            </a:extLst>
          </p:cNvPr>
          <p:cNvSpPr/>
          <p:nvPr/>
        </p:nvSpPr>
        <p:spPr>
          <a:xfrm>
            <a:off x="5422392" y="2706624"/>
            <a:ext cx="4279392" cy="566928"/>
          </a:xfrm>
          <a:prstGeom prst="roundRect">
            <a:avLst/>
          </a:prstGeom>
          <a:solidFill>
            <a:srgbClr val="F3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BC77AD-E67F-86BC-1013-45DCC339ADF5}"/>
              </a:ext>
            </a:extLst>
          </p:cNvPr>
          <p:cNvSpPr txBox="1"/>
          <p:nvPr/>
        </p:nvSpPr>
        <p:spPr>
          <a:xfrm>
            <a:off x="5513832" y="2779776"/>
            <a:ext cx="1024128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200" b="1">
                <a:solidFill>
                  <a:srgbClr val="12304A"/>
                </a:solidFill>
                <a:latin typeface="Aptos" panose="020B0004020202020204" pitchFamily="34" charset="0"/>
              </a:rPr>
              <a:t>Add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40B766-2284-6B52-C150-F9F82D2C7FE7}"/>
              </a:ext>
            </a:extLst>
          </p:cNvPr>
          <p:cNvSpPr txBox="1"/>
          <p:nvPr/>
        </p:nvSpPr>
        <p:spPr>
          <a:xfrm>
            <a:off x="6611112" y="2779776"/>
            <a:ext cx="621792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300" b="1">
                <a:solidFill>
                  <a:srgbClr val="087F8C"/>
                </a:solidFill>
                <a:latin typeface="Aptos" panose="020B0004020202020204" pitchFamily="34" charset="0"/>
              </a:rPr>
              <a:t>O(1)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67C959-6801-F9B0-1AD8-6600FFA4AAA4}"/>
              </a:ext>
            </a:extLst>
          </p:cNvPr>
          <p:cNvSpPr txBox="1"/>
          <p:nvPr/>
        </p:nvSpPr>
        <p:spPr>
          <a:xfrm>
            <a:off x="7251192" y="2779776"/>
            <a:ext cx="2331720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100">
                <a:solidFill>
                  <a:srgbClr val="12304A"/>
                </a:solidFill>
                <a:latin typeface="Aptos" panose="020B0004020202020204" pitchFamily="34" charset="0"/>
              </a:rPr>
              <a:t>Write one slot; move loading index.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5809E0D-34C9-6CEB-D705-E8008F819D14}"/>
              </a:ext>
            </a:extLst>
          </p:cNvPr>
          <p:cNvSpPr/>
          <p:nvPr/>
        </p:nvSpPr>
        <p:spPr>
          <a:xfrm>
            <a:off x="5422392" y="3328416"/>
            <a:ext cx="4279392" cy="566928"/>
          </a:xfrm>
          <a:prstGeom prst="roundRect">
            <a:avLst/>
          </a:prstGeom>
          <a:solidFill>
            <a:srgbClr val="F3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97AA3C-6F35-988E-DEF2-03090FA43154}"/>
              </a:ext>
            </a:extLst>
          </p:cNvPr>
          <p:cNvSpPr txBox="1"/>
          <p:nvPr/>
        </p:nvSpPr>
        <p:spPr>
          <a:xfrm>
            <a:off x="5513832" y="3401568"/>
            <a:ext cx="1024128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200" b="1">
                <a:solidFill>
                  <a:srgbClr val="12304A"/>
                </a:solidFill>
                <a:latin typeface="Aptos" panose="020B0004020202020204" pitchFamily="34" charset="0"/>
              </a:rPr>
              <a:t>Remove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7886C3-855D-E14D-3D3F-D1C4AA6A66F0}"/>
              </a:ext>
            </a:extLst>
          </p:cNvPr>
          <p:cNvSpPr txBox="1"/>
          <p:nvPr/>
        </p:nvSpPr>
        <p:spPr>
          <a:xfrm>
            <a:off x="6611112" y="3401568"/>
            <a:ext cx="621792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300" b="1">
                <a:solidFill>
                  <a:srgbClr val="087F8C"/>
                </a:solidFill>
                <a:latin typeface="Aptos" panose="020B0004020202020204" pitchFamily="34" charset="0"/>
              </a:rPr>
              <a:t>O(1)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2FEB82-156F-ED98-712D-5B89BA308BD1}"/>
              </a:ext>
            </a:extLst>
          </p:cNvPr>
          <p:cNvSpPr txBox="1"/>
          <p:nvPr/>
        </p:nvSpPr>
        <p:spPr>
          <a:xfrm>
            <a:off x="7251192" y="3401568"/>
            <a:ext cx="2331720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100">
                <a:solidFill>
                  <a:srgbClr val="12304A"/>
                </a:solidFill>
                <a:latin typeface="Aptos" panose="020B0004020202020204" pitchFamily="34" charset="0"/>
              </a:rPr>
              <a:t>Read and clear chosen end.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A1B2ACE-09D9-3D01-557E-8021906D36B1}"/>
              </a:ext>
            </a:extLst>
          </p:cNvPr>
          <p:cNvSpPr/>
          <p:nvPr/>
        </p:nvSpPr>
        <p:spPr>
          <a:xfrm>
            <a:off x="5422392" y="3950208"/>
            <a:ext cx="4279392" cy="566928"/>
          </a:xfrm>
          <a:prstGeom prst="roundRect">
            <a:avLst/>
          </a:prstGeom>
          <a:solidFill>
            <a:srgbClr val="F3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2F9D61-F793-A7A6-4B86-163CB290504B}"/>
              </a:ext>
            </a:extLst>
          </p:cNvPr>
          <p:cNvSpPr txBox="1"/>
          <p:nvPr/>
        </p:nvSpPr>
        <p:spPr>
          <a:xfrm>
            <a:off x="5513832" y="4023360"/>
            <a:ext cx="1024128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200" b="1">
                <a:solidFill>
                  <a:srgbClr val="12304A"/>
                </a:solidFill>
                <a:latin typeface="Aptos" panose="020B0004020202020204" pitchFamily="34" charset="0"/>
              </a:rPr>
              <a:t>Peek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90FBA5-F631-17C8-128E-6FBD72565F74}"/>
              </a:ext>
            </a:extLst>
          </p:cNvPr>
          <p:cNvSpPr txBox="1"/>
          <p:nvPr/>
        </p:nvSpPr>
        <p:spPr>
          <a:xfrm>
            <a:off x="6611112" y="4023360"/>
            <a:ext cx="621792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300" b="1">
                <a:solidFill>
                  <a:srgbClr val="087F8C"/>
                </a:solidFill>
                <a:latin typeface="Aptos" panose="020B0004020202020204" pitchFamily="34" charset="0"/>
              </a:rPr>
              <a:t>O(1)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CEF00B-E808-225C-F9FF-B41DE7971DE0}"/>
              </a:ext>
            </a:extLst>
          </p:cNvPr>
          <p:cNvSpPr txBox="1"/>
          <p:nvPr/>
        </p:nvSpPr>
        <p:spPr>
          <a:xfrm>
            <a:off x="7251192" y="4023360"/>
            <a:ext cx="2331720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100">
                <a:solidFill>
                  <a:srgbClr val="12304A"/>
                </a:solidFill>
                <a:latin typeface="Aptos" panose="020B0004020202020204" pitchFamily="34" charset="0"/>
              </a:rPr>
              <a:t>Read chosen end; keep item.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9C9DE21-D0E9-29C0-6F17-03A0A5001EBC}"/>
              </a:ext>
            </a:extLst>
          </p:cNvPr>
          <p:cNvSpPr/>
          <p:nvPr/>
        </p:nvSpPr>
        <p:spPr>
          <a:xfrm>
            <a:off x="5422392" y="4572000"/>
            <a:ext cx="4279392" cy="566928"/>
          </a:xfrm>
          <a:prstGeom prst="roundRect">
            <a:avLst/>
          </a:prstGeom>
          <a:solidFill>
            <a:srgbClr val="F3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1CF240-5388-2E5B-54D2-C58EA4B89B96}"/>
              </a:ext>
            </a:extLst>
          </p:cNvPr>
          <p:cNvSpPr txBox="1"/>
          <p:nvPr/>
        </p:nvSpPr>
        <p:spPr>
          <a:xfrm>
            <a:off x="5513832" y="4645152"/>
            <a:ext cx="1024128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200" b="1">
                <a:solidFill>
                  <a:srgbClr val="12304A"/>
                </a:solidFill>
                <a:latin typeface="Aptos" panose="020B0004020202020204" pitchFamily="34" charset="0"/>
              </a:rPr>
              <a:t>Display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07AC23-60B5-5E8C-3E4F-BF022859F432}"/>
              </a:ext>
            </a:extLst>
          </p:cNvPr>
          <p:cNvSpPr txBox="1"/>
          <p:nvPr/>
        </p:nvSpPr>
        <p:spPr>
          <a:xfrm>
            <a:off x="6611112" y="4645152"/>
            <a:ext cx="621792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300" b="1">
                <a:solidFill>
                  <a:srgbClr val="087F8C"/>
                </a:solidFill>
                <a:latin typeface="Aptos" panose="020B0004020202020204" pitchFamily="34" charset="0"/>
              </a:rPr>
              <a:t>O(n)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C0362C-0BAE-1A37-A6A1-EFC7E6A0DCE3}"/>
              </a:ext>
            </a:extLst>
          </p:cNvPr>
          <p:cNvSpPr txBox="1"/>
          <p:nvPr/>
        </p:nvSpPr>
        <p:spPr>
          <a:xfrm>
            <a:off x="7251192" y="4645152"/>
            <a:ext cx="2331720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100">
                <a:solidFill>
                  <a:srgbClr val="12304A"/>
                </a:solidFill>
                <a:latin typeface="Aptos" panose="020B0004020202020204" pitchFamily="34" charset="0"/>
              </a:rPr>
              <a:t>Visit stored items in order.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07C8C78-4306-6E1B-EF10-CC90B5D6C3F1}"/>
              </a:ext>
            </a:extLst>
          </p:cNvPr>
          <p:cNvSpPr/>
          <p:nvPr/>
        </p:nvSpPr>
        <p:spPr>
          <a:xfrm>
            <a:off x="5422392" y="5193792"/>
            <a:ext cx="4279392" cy="566928"/>
          </a:xfrm>
          <a:prstGeom prst="roundRect">
            <a:avLst/>
          </a:prstGeom>
          <a:solidFill>
            <a:srgbClr val="F3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8A62CD-C916-B650-7F1F-E4682A5BAE04}"/>
              </a:ext>
            </a:extLst>
          </p:cNvPr>
          <p:cNvSpPr txBox="1"/>
          <p:nvPr/>
        </p:nvSpPr>
        <p:spPr>
          <a:xfrm>
            <a:off x="5513832" y="5266944"/>
            <a:ext cx="1024128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200" b="1">
                <a:solidFill>
                  <a:srgbClr val="12304A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90D2D5-70E1-1855-0530-DEC8136BEEDF}"/>
              </a:ext>
            </a:extLst>
          </p:cNvPr>
          <p:cNvSpPr txBox="1"/>
          <p:nvPr/>
        </p:nvSpPr>
        <p:spPr>
          <a:xfrm>
            <a:off x="6611112" y="5266944"/>
            <a:ext cx="621792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300" b="1">
                <a:solidFill>
                  <a:srgbClr val="087F8C"/>
                </a:solidFill>
                <a:latin typeface="Aptos" panose="020B0004020202020204" pitchFamily="34" charset="0"/>
              </a:rPr>
              <a:t>O(n)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3CA5FF-949B-7B90-462A-35313CA8813B}"/>
              </a:ext>
            </a:extLst>
          </p:cNvPr>
          <p:cNvSpPr txBox="1"/>
          <p:nvPr/>
        </p:nvSpPr>
        <p:spPr>
          <a:xfrm>
            <a:off x="7251192" y="5266944"/>
            <a:ext cx="2331720" cy="369332"/>
          </a:xfrm>
          <a:prstGeom prst="rect">
            <a:avLst/>
          </a:prstGeom>
          <a:noFill/>
        </p:spPr>
        <p:txBody>
          <a:bodyPr vert="horz" wrap="square" lIns="9144" tIns="9144" rIns="9144" bIns="9144" rtlCol="0">
            <a:noAutofit/>
          </a:bodyPr>
          <a:lstStyle/>
          <a:p>
            <a:r>
              <a:rPr lang="en-GB" sz="1100">
                <a:solidFill>
                  <a:srgbClr val="12304A"/>
                </a:solidFill>
                <a:latin typeface="Aptos" panose="020B0004020202020204" pitchFamily="34" charset="0"/>
              </a:rPr>
              <a:t>Compare names until match or end.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87208E5-DBD2-21AB-FCC5-80F2B517AB34}"/>
              </a:ext>
            </a:extLst>
          </p:cNvPr>
          <p:cNvSpPr/>
          <p:nvPr/>
        </p:nvSpPr>
        <p:spPr>
          <a:xfrm>
            <a:off x="5257800" y="6263640"/>
            <a:ext cx="4608576" cy="3529584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20FBC6-809C-ADC0-72EA-6984975490B5}"/>
              </a:ext>
            </a:extLst>
          </p:cNvPr>
          <p:cNvSpPr txBox="1"/>
          <p:nvPr/>
        </p:nvSpPr>
        <p:spPr>
          <a:xfrm>
            <a:off x="5440680" y="6419088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b="1">
                <a:solidFill>
                  <a:srgbClr val="087F8C"/>
                </a:solidFill>
                <a:latin typeface="Aptos" panose="020B0004020202020204" pitchFamily="34" charset="0"/>
              </a:rPr>
              <a:t>HOW TO READ THE ANALYSIS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E7B69D-AF63-1EB1-FDA6-2B256FEC1561}"/>
              </a:ext>
            </a:extLst>
          </p:cNvPr>
          <p:cNvSpPr txBox="1"/>
          <p:nvPr/>
        </p:nvSpPr>
        <p:spPr>
          <a:xfrm>
            <a:off x="5440680" y="6903720"/>
            <a:ext cx="4242816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300">
                <a:solidFill>
                  <a:srgbClr val="19344C"/>
                </a:solidFill>
                <a:latin typeface="Aptos" panose="020B0004020202020204" pitchFamily="34" charset="0"/>
              </a:rPr>
              <a:t>n is the item count (zero to eight). O(1) is constant work; O(n) grows with n. Scans are bounded by eight now; O(n) describes scaling if capacity grows. The fixed array uses O(8) = O(1) space. Search and display create temporary lists using O(n) extra space. A count and loading index keep add, remove and peek from scanning.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7FFCB99-91A5-3393-C1A6-60B20CE8982E}"/>
              </a:ext>
            </a:extLst>
          </p:cNvPr>
          <p:cNvSpPr/>
          <p:nvPr/>
        </p:nvSpPr>
        <p:spPr>
          <a:xfrm>
            <a:off x="10076688" y="1755648"/>
            <a:ext cx="4608577" cy="411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AF2635-059B-7AAF-C247-42592BD54AAD}"/>
              </a:ext>
            </a:extLst>
          </p:cNvPr>
          <p:cNvSpPr txBox="1"/>
          <p:nvPr/>
        </p:nvSpPr>
        <p:spPr>
          <a:xfrm>
            <a:off x="10259568" y="1883664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b="1">
                <a:solidFill>
                  <a:srgbClr val="087F8C"/>
                </a:solidFill>
                <a:latin typeface="Aptos" panose="020B0004020202020204" pitchFamily="34" charset="0"/>
              </a:rPr>
              <a:t>VALIDATION AND TESTING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89C289-1851-C91D-4839-F2CE4E4C3F18}"/>
              </a:ext>
            </a:extLst>
          </p:cNvPr>
          <p:cNvSpPr txBox="1"/>
          <p:nvPr/>
        </p:nvSpPr>
        <p:spPr>
          <a:xfrm>
            <a:off x="10259568" y="2350008"/>
            <a:ext cx="4242816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300">
                <a:solidFill>
                  <a:srgbClr val="19344C"/>
                </a:solidFill>
                <a:latin typeface="Aptos" panose="020B0004020202020204" pitchFamily="34" charset="0"/>
              </a:rPr>
              <a:t>Food and menu choices are checked; weights must be positive whole grams. Dates must be valid YYYY-MM-DD values from today through 14 days ahead. Invalid entries explain the issue and reprompt. Blank searches are rejected; matching ignores case. The app refuses a ninth item and handles empty remove/peek with clear messages. Accepted items receive placement timestamps. Tests cover subtype creation, timestamp/date/weight rules, LIFO/FIFO order, overflow, wraparound, search and empty storage. Run BoundedFoodStorageTest to execute its dependency-free main-method checks; it is not JUnit.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A266EB9-9D90-DE00-35EA-C3060581B4CC}"/>
              </a:ext>
            </a:extLst>
          </p:cNvPr>
          <p:cNvSpPr/>
          <p:nvPr/>
        </p:nvSpPr>
        <p:spPr>
          <a:xfrm>
            <a:off x="10076688" y="6053328"/>
            <a:ext cx="4608577" cy="3739896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396A2A-C253-E7A6-DF2B-92E99EE7C7D6}"/>
              </a:ext>
            </a:extLst>
          </p:cNvPr>
          <p:cNvSpPr txBox="1"/>
          <p:nvPr/>
        </p:nvSpPr>
        <p:spPr>
          <a:xfrm>
            <a:off x="10259568" y="6181344"/>
            <a:ext cx="4242816" cy="384048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b="1">
                <a:solidFill>
                  <a:srgbClr val="087F8C"/>
                </a:solidFill>
                <a:latin typeface="Aptos" panose="020B0004020202020204" pitchFamily="34" charset="0"/>
              </a:rPr>
              <a:t>ADVANTAGES, LIMITS AND TAKEAWAY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843D21-81C2-3D5A-CFE0-DB68196843E9}"/>
              </a:ext>
            </a:extLst>
          </p:cNvPr>
          <p:cNvSpPr txBox="1"/>
          <p:nvPr/>
        </p:nvSpPr>
        <p:spPr>
          <a:xfrm>
            <a:off x="10259568" y="6647688"/>
            <a:ext cx="4242816" cy="369332"/>
          </a:xfrm>
          <a:prstGeom prst="rect">
            <a:avLst/>
          </a:prstGeom>
          <a:noFill/>
        </p:spPr>
        <p:txBody>
          <a:bodyPr vert="horz" wrap="square" lIns="18288" tIns="18288" rIns="18288" bIns="18288" rtlCol="0">
            <a:noAutofit/>
          </a:bodyPr>
          <a:lstStyle/>
          <a:p>
            <a:r>
              <a:rPr lang="en-GB" sz="1300">
                <a:solidFill>
                  <a:srgbClr val="19344C"/>
                </a:solidFill>
                <a:latin typeface="Aptos" panose="020B0004020202020204" pitchFamily="34" charset="0"/>
              </a:rPr>
              <a:t>Advantages: fixed memory, no shifting, O(1) add/remove/peek, and two removal policies. A deque fits better than a stack or queue alone because either end may be selected. Limits: capacity cannot grow; search and display scan items; data is lost on exit. Dates are checked on entry, but expired food is not removed automatically. Conclusion: the bounded deque models party storage directly and keeps operations simple to implement and test.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FD58435-1945-1669-4BE5-637AF3F08816}"/>
              </a:ext>
            </a:extLst>
          </p:cNvPr>
          <p:cNvSpPr/>
          <p:nvPr/>
        </p:nvSpPr>
        <p:spPr>
          <a:xfrm>
            <a:off x="438912" y="10003536"/>
            <a:ext cx="14246353" cy="347472"/>
          </a:xfrm>
          <a:prstGeom prst="roundRect">
            <a:avLst/>
          </a:prstGeom>
          <a:solidFill>
            <a:srgbClr val="1230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D0A1E5-FB3E-E32A-BFDA-9AD44F36BBFE}"/>
              </a:ext>
            </a:extLst>
          </p:cNvPr>
          <p:cNvSpPr txBox="1"/>
          <p:nvPr/>
        </p:nvSpPr>
        <p:spPr>
          <a:xfrm>
            <a:off x="466344" y="10021824"/>
            <a:ext cx="14191487" cy="369332"/>
          </a:xfrm>
          <a:prstGeom prst="rect">
            <a:avLst/>
          </a:prstGeom>
          <a:noFill/>
        </p:spPr>
        <p:txBody>
          <a:bodyPr vert="horz" wrap="square" lIns="27432" tIns="27432" rIns="27432" bIns="27432" rtlCol="0">
            <a:no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GITHUB REPOSITORY  |  https://github.com/Ashford-tulgaa/PartyFoodStorage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484F4F-8016-2D22-C7A9-ECABFBDE670F}"/>
              </a:ext>
            </a:extLst>
          </p:cNvPr>
          <p:cNvSpPr txBox="1"/>
          <p:nvPr/>
        </p:nvSpPr>
        <p:spPr>
          <a:xfrm>
            <a:off x="502920" y="10405872"/>
            <a:ext cx="14036039" cy="369332"/>
          </a:xfrm>
          <a:prstGeom prst="rect">
            <a:avLst/>
          </a:prstGeom>
          <a:noFill/>
        </p:spPr>
        <p:txBody>
          <a:bodyPr vert="horz" wrap="square" lIns="4572" tIns="4572" rIns="4572" bIns="4572" rtlCol="0">
            <a:noAutofit/>
          </a:bodyPr>
          <a:lstStyle/>
          <a:p>
            <a:pPr algn="ctr"/>
            <a:r>
              <a:rPr lang="en-GB" sz="900">
                <a:solidFill>
                  <a:srgbClr val="526879"/>
                </a:solidFill>
                <a:latin typeface="Aptos" panose="020B0004020202020204" pitchFamily="34" charset="0"/>
              </a:rPr>
              <a:t>Tseveendorj Ganbaatar  |  Student Number: 2026110  |  Sources: CA-1 assignment brief and project source/test code. AI assistance must be declared in the required appendix.</a:t>
            </a:r>
          </a:p>
        </p:txBody>
      </p:sp>
    </p:spTree>
    <p:extLst>
      <p:ext uri="{BB962C8B-B14F-4D97-AF65-F5344CB8AC3E}">
        <p14:creationId xmlns:p14="http://schemas.microsoft.com/office/powerpoint/2010/main" val="305113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Tseveendorj Ganbaatar</dc:creator>
  <cp:lastModifiedBy>Tseveendorj Ganbaatar</cp:lastModifiedBy>
  <cp:revision>2</cp:revision>
  <dcterms:created xsi:type="dcterms:W3CDTF">2026-10-17T17:23:27Z</dcterms:created>
  <dcterms:modified xsi:type="dcterms:W3CDTF">2026-10-17T20:53:18Z</dcterms:modified>
</cp:coreProperties>
</file>